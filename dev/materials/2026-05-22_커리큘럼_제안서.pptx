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382" r:id="rId3"/>
    <p:sldId id="385" r:id="rId4"/>
    <p:sldId id="387" r:id="rId5"/>
    <p:sldId id="388" r:id="rId6"/>
  </p:sldIdLst>
  <p:sldSz cx="12192000" cy="6858000"/>
  <p:notesSz cx="6858000" cy="9144000"/>
  <p:embeddedFontLst>
    <p:embeddedFont>
      <p:font typeface="Pretendard" panose="020B0600000101010101" charset="-127"/>
      <p:regular r:id="rId8"/>
      <p:bold r:id="rId9"/>
    </p:embeddedFont>
    <p:embeddedFont>
      <p:font typeface="Pretendard Black" panose="020B0600000101010101" charset="-127"/>
      <p:bold r:id="rId10"/>
    </p:embeddedFont>
    <p:embeddedFont>
      <p:font typeface="Pretendard Medium" panose="020B0600000101010101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F2F2F2"/>
    <a:srgbClr val="004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38" autoAdjust="0"/>
    <p:restoredTop sz="96242" autoAdjust="0"/>
  </p:normalViewPr>
  <p:slideViewPr>
    <p:cSldViewPr snapToGrid="0">
      <p:cViewPr>
        <p:scale>
          <a:sx n="150" d="100"/>
          <a:sy n="150" d="100"/>
        </p:scale>
        <p:origin x="-848" y="-1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B3A62-A8A3-491D-8D95-B902F46D4AE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BCC64-4F12-4628-8189-BF901570C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7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0C3C-FE39-5CF0-0EA1-217232D5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6C8E1-0D65-C224-AB74-59212562B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8B36B-4269-D042-1B22-07061097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D275-88DC-1D3A-4098-C6659160E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9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CEF9-AB72-9589-83CB-040C2C92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B9DBB-34A1-E6CD-EFC5-D858196E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7B596-059D-EF6A-CCF2-53C671BC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63A89-0329-5E48-862A-CACA369A64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1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3DE1-25C4-CDCA-46C1-57AB4DDA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0830E-9BA4-9FDC-0113-D73EDCA3F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C9098-74B8-A6C3-7EAE-C76845E2E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F8D73-9920-2399-738A-C54C4CED4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62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93CB-A29D-7901-E3DB-F767A252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5F398-E41F-E013-B385-79BB93784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BF0D5-2030-36EF-0814-7063AAD80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9D5E7-0FA3-0B92-893D-1EDFE4075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2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85CC5-9F24-6338-85A6-538E9A5D3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002BD7-2BE2-A92C-E24B-C6C07CAAB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39070-2F21-E967-3B19-C4257AA9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FF76-1465-49DC-98E1-C68F458BD788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136F0-8A44-7277-69D3-CE9C364F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0D33B1-7EDE-ECAD-D316-FC5B0720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79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6D48C-9A51-2473-B332-AD994589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C2D63-42BF-052C-CC1B-58E100A1D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C6B45-DC0E-789F-CFAD-E6A0663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1E0A-C83B-4C73-B316-C273B806C037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E5AD4-E6FF-7941-5589-DD0AA71E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BCA3D-0245-0BD3-1629-D9B53B20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6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26A99-C857-B8CF-017C-C401A85B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C26BD-D11F-F6BA-7D25-FCB27DACE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CFBE3-F40F-ABBA-AE90-B26426F7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D6C7-0022-4881-941C-B2EDC73CFA59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CA208-8F91-6EFB-062C-8E5EE905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B5E0A-733C-0188-81B0-2E3F87AF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1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379EF-38C4-3614-43AA-9C10CC95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3077D-A886-C102-F08B-53988F04E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EE405-BEF4-9367-CBB4-C66084126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E207FA-14FF-C62E-4C50-9B685DAD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FA05-5CE7-48AD-B4F2-4D59CCF9DE4E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9A899-D48B-54FA-240E-BFA33CD5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A8470D-A127-FE9A-D3F1-C9CC3BF7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3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FB65A-7C13-43AB-E01E-B37D1D0F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DAA50-B31B-3A04-1C55-43DF7F5A2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BF00E-4CF6-8F6C-6D3D-1D933B38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6B12E6-A89D-B18C-E0D4-B2CE910D9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1A63C2-2A1F-0659-1A84-357B4949B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CD9A28-28E0-6D9C-072E-BC2555D2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B3B1-69A9-4E8E-87F2-4571A314E53E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3E7490-ADDB-65AC-6337-E0B6AC61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95A79F-555E-291D-D832-04BDE938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53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B2D32-02C1-D0BB-32C1-BF9D3CDC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7439AF-B5A5-49A6-8731-9B416C91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C95E-2107-4115-959D-0918C7079ED6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2D6DBF-D306-A5D4-CB1E-4882305D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A36608-1154-CE74-1D31-6E31C88D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13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4CAA1C-DE67-827F-3835-74DB61F7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934E-37E1-4612-8756-ADCDFF3A9E4A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B159BB-A1E6-5FDB-FC15-241B06EC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8C2A55-2CB4-ABC5-803A-5F33907E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39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9437F-07EB-4C70-142E-05DEAC16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22694-F99B-3CB4-737C-0B586A1D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1B3A7D-2B2F-FACD-BDDF-E259C7391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4AD5A-1FFA-9973-BF16-CCAAC1EC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6AA8-C00B-422D-A93C-219140D3CD15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162744-1BA7-5882-A5DC-51849C3B5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42D21A-04A7-213E-A8B2-3D0DCC0C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10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85F9C-04ED-2B6C-FC6B-F6C7C175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985B5E-C215-22D4-0F6B-246007BD8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723BE3-551E-736B-F35E-51EAD9AA0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D48A0-91ED-1D43-1B17-81FBB3F1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3758-E77C-4201-9400-7F22B2515434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1CCCA6-5B3E-37F8-28E3-AFD40F61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09C51-E9FC-65F5-6400-000FD621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06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8DF5E-9FE1-0944-065B-97ED9067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A6B49F-4F98-BABC-3072-2BEA2808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87A08-79EC-34D4-0771-D265F403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C670-12F2-43A0-8E70-B5097AED69A4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A47A1-D49C-8884-71B6-5DC561D5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373F6-A6FC-7DB1-3BA8-FB53C5CB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4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46F569-7B89-C55B-1FFE-57CDEAC31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255CBB-C2E4-182E-CFDF-D4E62CB7B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62B92-8D54-6E13-51CA-A0AB4BB0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D23F-8A0A-4D72-9E92-8F6C236FD861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8D41E-BCEA-8DD8-5ACE-D8E7B957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EA063-67BE-1174-E71A-24F13431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595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93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EEA5C0-F74B-B764-A185-754B08FD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52810-D658-9FAD-3E1F-A31805634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6C3B1-E0C6-0B63-2886-BDA2C811A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D3158-7006-4038-81B8-C1EAAE1DA8B3}" type="datetime1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775D0-2AC1-2159-72F6-DFBFB420D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F4F5D9-76D8-EDA6-F9AD-9C1FEAD54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62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FF3D0FBA-ECAF-7EA8-F243-6ABBC9996CD5}"/>
              </a:ext>
            </a:extLst>
          </p:cNvPr>
          <p:cNvSpPr txBox="1"/>
          <p:nvPr/>
        </p:nvSpPr>
        <p:spPr>
          <a:xfrm>
            <a:off x="1072044" y="3660056"/>
            <a:ext cx="7629503" cy="118123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ko-KR" altLang="en-US" sz="5400" b="0" i="0" u="none" strike="noStrike" dirty="0">
                <a:solidFill>
                  <a:srgbClr val="FDFDF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삼성전자</a:t>
            </a:r>
            <a:endParaRPr lang="en-US" sz="5400" b="0" i="0" u="none" strike="noStrike" dirty="0">
              <a:solidFill>
                <a:srgbClr val="FDFDFD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25CC76A5-BEC9-C0D4-D627-09D4D4C55ED8}"/>
              </a:ext>
            </a:extLst>
          </p:cNvPr>
          <p:cNvSpPr txBox="1"/>
          <p:nvPr/>
        </p:nvSpPr>
        <p:spPr>
          <a:xfrm>
            <a:off x="1072044" y="4597647"/>
            <a:ext cx="10618306" cy="118123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en-US" altLang="ko-KR" sz="5400" dirty="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5400" dirty="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sz="5400" b="0" i="0" u="none" strike="noStrike" dirty="0">
              <a:solidFill>
                <a:srgbClr val="FDFD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963E55D4-E1B0-7D9E-8BE2-C59DB9B2C49A}"/>
              </a:ext>
            </a:extLst>
          </p:cNvPr>
          <p:cNvSpPr txBox="1"/>
          <p:nvPr/>
        </p:nvSpPr>
        <p:spPr>
          <a:xfrm>
            <a:off x="1072044" y="986930"/>
            <a:ext cx="2171700" cy="3305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en-US" altLang="ko-KR" sz="140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2026.05.22</a:t>
            </a:r>
            <a:endParaRPr lang="en-US" sz="1400" b="0" i="0" u="none" strike="noStrike" dirty="0">
              <a:solidFill>
                <a:srgbClr val="FDFD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673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1564-44E8-45E7-6320-743C30BF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03744D0-79EC-D80D-C644-12B08FF3138A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48163F-FCDF-C2DE-85D4-6E7D0839ACF2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6F2230-EF89-A44B-8ABC-F9B40CFD2DCA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E32DEA3-7F64-C117-8FA6-A44862F22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5F8A8385-B8C7-0D0A-42D9-899D85F27DF3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Part1: LangChain&amp;LangGraph 기반 AI 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챗봇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6DCE874-560C-D02D-A860-32A2AA951497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B3CDF-D0C3-0F87-1BE2-DB3EAB774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912193"/>
              </p:ext>
            </p:extLst>
          </p:nvPr>
        </p:nvGraphicFramePr>
        <p:xfrm>
          <a:off x="403494" y="1906406"/>
          <a:ext cx="11408258" cy="4903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007285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Agent Design Thinking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관점의 문제 재정의와 Agent 사고방식 정립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AI/ML/LLM의 관계와 LLM의 본질(다음 토큰 예측) 이해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Chatbot에서 Agent로의 전환: 함수 호출(Function Calling)과 행동 루프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ReAct(Reasoning + Acting) 패턴의 작동 원리와 한계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LangChain과 LangGraph가 필요한 이유: 오케스트레이션과 상태 관리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[시연] 도구 호출 기반 Agent 추론 흐름 관찰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작동 원리와 개발 환경 준비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API 실습을 위한 기반 정비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LLM 학습/추론 흐름, Tokenization, Context Window 핵심 개념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System/User/Assistant 역할 분리와 대화 구조 설계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모델 파라미터(Temperature, Top-p)와 출력 특성 이해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개발 환경 구성: VS Code, venv, .env 기반 키 관리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OpenAI SDK 기반 single-turn / multi-turn / streaming 호출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LangChain get_llm() 래퍼를 통한 모델 호출 일원화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22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 프레임워크 깊이 학습</a:t>
                      </a:r>
                      <a:endParaRPr lang="en-US" altLang="ko-KR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LCEL, Tool Calling, Structured Output, Memory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LCEL 설계 철학과 Pipe(|) 기반 체인 구성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Runnable 인터페이스: RunnableParallel / RunnablePassthrough / RunnableLambda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Tool Calling 메커니즘: 스키마 기반 도구 선택, 수동 루프 처리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Output Parser vs with_structured_output() 비교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메모리 전략 1: RunnableWithMessageHistory 기반 세션 메모리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메모리 전략 2: LangGraph + MemorySaver 기반 상태 내장 메모리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날씨/계산 도구를 활용한 자율 도구 선택 체인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구조화 출력(MovieReview) 파싱 및 안정성 비교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  <a:tr h="1145787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0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RAG 이론과 핵심 모듈 실습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기반 QA 파이프라인의 표준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RAG vs Fine-tuning 역할 분리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Naive → Advanced → Modular RAG 발전 흐름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RAG 핵심 모듈: Loading / Splitting / Embedding / Storage / Retrieval / Generation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청킹 전략(Fixed/Recursive/Semantic)과 임베딩 모델 선택 관점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PDF 로딩/청킹/벡터스토어(Chroma) 구축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LangChain RAG 체인 구성 및 스트리밍 응답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RAGaaS API 기반 사내형 RAG 구현 패턴 이해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3921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771A7046-5E47-7CDE-591E-DDABB02DF58F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D708243-EBA5-D841-7C1D-4F78C358F6DB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7618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260C-B417-9603-4FCB-461BA75A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862C4D0-EA3C-7376-7B36-8A3BFEA96AA8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204545-4376-5682-F62D-ACADE2999EAC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46D63C-CF7A-F19B-73DF-2AA4ED57A343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EC5ED3C-E55B-DFD3-5AC5-602B1D626D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1E7F10B-9D5F-52A1-F56E-8E19BC71E896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Part1: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LangChain&amp;LangGraph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AI 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챗봇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5B43A7F-3024-1E1A-BB35-3F413EAA1916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53C63B-FFF3-644D-D958-8881F5850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444998"/>
              </p:ext>
            </p:extLst>
          </p:nvPr>
        </p:nvGraphicFramePr>
        <p:xfrm>
          <a:off x="403494" y="1906405"/>
          <a:ext cx="11408258" cy="486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794763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 정통 이론 &amp; 고급 기능 실습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StateGraph 기반 제어 가능한 Agent 설계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LangGraph 핵심 구성요소: Node / Edge / State / Reducer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Conditional Edge로 분기 제어(언어 감지 라우팅)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ToolNode + tools_condition 기반 ReAct 루프 자동화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Checkpointer를 활용한 중단/재개와 상태 영속화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Human-in-the-loop(interrupt_before) 승인/거부 패턴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조건부 라우팅 + 도구 호출 + 재개 가능한 그래프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대화형 HITL CLI 에이전트 구현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Multi-Agent 협업 입문</a:t>
                      </a:r>
                      <a:endParaRPr lang="en-US" altLang="ko-KR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단일 Agent에서 역할 분리형 협업으로 확장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단일 Agent 한계: 역할 혼재, 컨텍스트 비대화, 도구 복잡도 증가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패턴 이해: Researcher-Writer 분업과 Supervisor 라우팅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Structured Output(RouteDecision)으로 라우팅 결정 안정화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Researcher(조사) + Writer(작성) 2-Agent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Supervisor가 상태를 보고 researcher/writer/finish를 선택하는 흐름 구성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45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Streamlit 기반 RAG 서비스화</a:t>
                      </a:r>
                      <a:endParaRPr lang="ko-KR" altLang="en-US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백엔드 체인을 사용자 인터페이스로 배포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Streamlit 기본 구성: title/caption, cache_resource, session_state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채팅 UI: chat_message, chat_input, write_stream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RAG 체인의 앱 내 로딩 전략과 사용자 대화 이력 유지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보험 약관 QA 챗봇 UI 구현 및 스트리밍 응답 연결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29D98FAA-F83D-2AD7-607D-E43AD4DCAE65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C3C1584-3E56-A3DA-0987-0382FE654887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11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5CC8-C9E9-6007-03A5-301ED62B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F92ED4F-C46E-985C-EB25-2291531A7650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D38A36-472B-6D2D-0953-04A6BE5E5B88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D491A0-708E-C82E-2A16-F56AB21D3CCC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79302A0-7A77-C7BC-7524-0D8E6486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CAB1BC3-4CCD-F36C-069C-F4656E31F7D2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Part2</a:t>
            </a:r>
            <a:r>
              <a:rPr lang="en-US" altLang="ko-KR" sz="1300" b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MCP·A2A·Harness 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Multi-Agent 개발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실전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endParaRPr lang="en-US" altLang="ko-KR" sz="1300" b="1" dirty="0">
              <a:solidFill>
                <a:srgbClr val="1E40A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3CDAA57-9BAA-8D93-738F-32246CC863F7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F6EB4D-A308-9D21-2B48-FBB1FBADE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015987"/>
              </p:ext>
            </p:extLst>
          </p:nvPr>
        </p:nvGraphicFramePr>
        <p:xfrm>
          <a:off x="403494" y="1906406"/>
          <a:ext cx="11408258" cy="486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844711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과정1 복습 &amp; 심화 방향 정렬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1 핵심 개념 리프레시와 확장 축 소개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LLM/Agent/LangChain/RAG/LangGraph 핵심 복습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과정 2 목표 정렬: MCP, A2A, LangGraph 심화, Harness, Observability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review 코드로 기초 구성요소 재확인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3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MCP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Model Context Protocol 표준 연동 실습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 등장 배경: 함수 호출 난립과 도구 표준화 필요성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구성요소: Server / Host / Client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프리미티브: Tools / Resources / Prompts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FastMCP로 서버 구현 및 SSE/stdio 전송 방식 이해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시간/BMI/할일 관리 MCP 서버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LangGraph Agent에서 MCP 도구 로드 후 호출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3833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A2A 프로토콜 이해와 위임 구조 실습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Agent-to-Agent 통신 표준 적용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MCP와 A2A의 역할 구분(Agent↔Tool vs Agent↔Agent)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핵심 개념: Agent Card / Task / Message / Artifact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Task 상태 추적 기반 비동기 위임 모델 이해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LangGraph Agent를 A2A Server로 노출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A2A Client로 task 생성/조회/완료 처리 구현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Researcher(A2A) + Writer(로컬 LLM) 분업 흐름 구성</a:t>
                      </a:r>
                      <a:endParaRPr lang="en-US" altLang="ko-KR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  <a:tr h="1248704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0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 심화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복잡한 워크플로우를 위한 고급 패턴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Subgraph 컴포지션으로 모듈화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Persistence: MemorySaver vs SqliteSaver, checkpoint 이력과 time-travel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Checkpointer와 Store의 역할 분리(단기 대화 상태 vs 장기 사용자 기억)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Parallel Execution: 정적 fan-out/fan-in, 동적 Send API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병렬 질의 처리 및 결과 집계 그래프 구현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b="0" kern="1200" spc="-20" baseline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3921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4EC0AA67-F766-292B-972E-F7CC39FC03E8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64F20FF-FE81-A8FB-CBD8-EBB1AE9CCA67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06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EF13-E999-673F-B545-D1E15080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3067114-B73E-6130-7755-7649674E687A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3B5AB4-2177-7014-26B5-0C0EB9FEAA77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C6D50E-D586-1B90-989D-338E29FF1440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B55C2F2-1A23-6371-EFBC-C425B34181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04BD67C-24B4-2F17-E4C0-85B807F178CB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Part2</a:t>
            </a:r>
            <a:r>
              <a:rPr lang="en-US" altLang="ko-KR" sz="1300" b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MCP·A2A·Harness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Multi-Agent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실전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endParaRPr lang="en-US" altLang="ko-KR" sz="1300" b="1" dirty="0">
              <a:solidFill>
                <a:srgbClr val="1E40A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A0F216E-F96D-5D78-E589-60E58A596044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95B17A-E49E-AA10-C494-26AE6A521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196049"/>
              </p:ext>
            </p:extLst>
          </p:nvPr>
        </p:nvGraphicFramePr>
        <p:xfrm>
          <a:off x="403494" y="1906406"/>
          <a:ext cx="11408258" cy="486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114040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Harness Engineering 핵심 원칙</a:t>
                      </a:r>
                      <a:endParaRPr lang="ko-KR" altLang="en-US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모델이 아니라 실행 환경을 설계하는 관점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Harness Engineering의 배경과 필요성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Workflow vs Agent 선택 기준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skills 문서 기반 행위 제어 원리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deepagents + FilesystemBackend + skills 디렉토리로 에이전트 구성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범위 이탈 요청 거절(system prompt)과 스킬 기반 응답 제어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Observability &amp; Evaluation (Langfuse)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품질 측정을 위한 추적·평가 체계 구축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CallbackHandler 기반 LangChain/LangGraph 트레이싱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@observe 기반 비체인 로직 추적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평가 방법: 규칙 기반, 사용자 피드백, LLM-as-a-Judge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다차원 점수화: 정확성/관련성/완성도 등 지표 기록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Langfuse 대시보드에서 trace와 score 검증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(2.9H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2487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캡스톤 프로젝트: 리서치 자동화 멀티 에이전트 시스템</a:t>
                      </a:r>
                      <a:endParaRPr lang="en-US" altLang="ko-KR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 학습요소 통합 구현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통합 아키텍처: Supervisor → Researcher(MCP+RAG+웹검색) → HITL 승인 → Writer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Researcher/Writer 역할별 SKILL.md 적용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 파일시스템 서버 연동 + 로컬 문서 검색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Human Approval(interrupt_before) 기반 승인형 작성 플로우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최종 보고서 자동 평가(LLM Judge)와 Langfuse 점수 기록</a:t>
                      </a:r>
                      <a:b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[실습] end-to-end 실행 및 품질 지표 확인</a:t>
                      </a:r>
                      <a:endParaRPr lang="ko-KR" altLang="en-US" sz="900" b="1" kern="1200" spc="-20" baseline="0" err="1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  <a:tr h="1383368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0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결과 정리 및 운영 전환 가이드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실무 이행을 위한 마무리 세션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캡스톤 결과 리뷰: 품질/속도/안정성 관점 진단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운영 이슈 점검: 도구 권한, 실패 복구, 평가 루프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PoC→운영 전환 체크리스트 정리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[발표] 팀별 아키텍처와 개선 포인트 공유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3921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F18BF039-F30E-D91D-8622-A5AF5B1F84C0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3E270D5-5AD1-8AA5-E211-0BA589B9771C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8574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1479</Words>
  <Application>Microsoft Office PowerPoint</Application>
  <PresentationFormat>와이드스크린</PresentationFormat>
  <Paragraphs>92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Pretendard Black</vt:lpstr>
      <vt:lpstr>Pretendard Medium</vt:lpstr>
      <vt:lpstr>Pretendard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Jiwon</dc:creator>
  <cp:lastModifiedBy>김구현</cp:lastModifiedBy>
  <cp:revision>35</cp:revision>
  <dcterms:created xsi:type="dcterms:W3CDTF">2024-11-24T22:23:42Z</dcterms:created>
  <dcterms:modified xsi:type="dcterms:W3CDTF">2026-06-19T06:38:39Z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