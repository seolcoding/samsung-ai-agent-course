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385" r:id="rId3"/>
    <p:sldId id="393" r:id="rId4"/>
    <p:sldId id="382" r:id="rId5"/>
    <p:sldId id="394" r:id="rId6"/>
  </p:sldIdLst>
  <p:sldSz cx="12192000" cy="6858000"/>
  <p:notesSz cx="6858000" cy="9144000"/>
  <p:embeddedFontLst>
    <p:embeddedFont>
      <p:font typeface="Pretendard" panose="02000503000000020004" pitchFamily="2" charset="-127"/>
      <p:regular r:id="rId8"/>
      <p:bold r:id="rId9"/>
    </p:embeddedFont>
    <p:embeddedFont>
      <p:font typeface="Pretendard Black" panose="02000A03000000020004" pitchFamily="2" charset="-127"/>
      <p:bold r:id="rId10"/>
    </p:embeddedFont>
    <p:embeddedFont>
      <p:font typeface="Pretendard Medium" panose="02000603000000020004" pitchFamily="2" charset="-127"/>
      <p:regular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F2F2F2"/>
    <a:srgbClr val="004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38" autoAdjust="0"/>
    <p:restoredTop sz="96242" autoAdjust="0"/>
  </p:normalViewPr>
  <p:slideViewPr>
    <p:cSldViewPr snapToGrid="0">
      <p:cViewPr varScale="1">
        <p:scale>
          <a:sx n="88" d="100"/>
          <a:sy n="88" d="100"/>
        </p:scale>
        <p:origin x="32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B3A62-A8A3-491D-8D95-B902F46D4AE4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BCC64-4F12-4628-8189-BF901570CA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67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CEF9-AB72-9589-83CB-040C2C92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B9DBB-34A1-E6CD-EFC5-D858196E2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7B596-059D-EF6A-CCF2-53C671BC0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63A89-0329-5E48-862A-CACA369A64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1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25622-B254-144C-CFCB-EF1AC06E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D1EA3-8BE7-4A14-26D8-37C1FFC31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B4BD2-4A23-9BC3-F42B-D615D91C7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8E230-FC91-CEA2-297F-A14479EDA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18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80C3C-FE39-5CF0-0EA1-217232D5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6C8E1-0D65-C224-AB74-59212562B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8B36B-4269-D042-1B22-070610977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9D275-88DC-1D3A-4098-C6659160E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9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58BA3-06E3-47AF-FB48-6725AD79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6F0EE-40B2-1C71-CF2C-9287BA18F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A46A4-11DC-E42B-70DD-17BA6E74E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3DE69-254C-B1C7-745B-9B8C9C259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32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85CC5-9F24-6338-85A6-538E9A5D3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002BD7-2BE2-A92C-E24B-C6C07CAAB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C39070-2F21-E967-3B19-C4257AA9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EFF76-1465-49DC-98E1-C68F458BD788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A136F0-8A44-7277-69D3-CE9C364F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0D33B1-7EDE-ECAD-D316-FC5B0720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798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6D48C-9A51-2473-B332-AD994589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7C2D63-42BF-052C-CC1B-58E100A1D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5C6B45-DC0E-789F-CFAD-E6A06634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1E0A-C83B-4C73-B316-C273B806C037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E5AD4-E6FF-7941-5589-DD0AA71E2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FBCA3D-0245-0BD3-1629-D9B53B20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68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26A99-C857-B8CF-017C-C401A85B5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5C26BD-D11F-F6BA-7D25-FCB27DACE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2CFBE3-F40F-ABBA-AE90-B26426F7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2D6C7-0022-4881-941C-B2EDC73CFA59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CA208-8F91-6EFB-062C-8E5EE905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B5E0A-733C-0188-81B0-2E3F87AFF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1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379EF-38C4-3614-43AA-9C10CC95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3077D-A886-C102-F08B-53988F04E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EE405-BEF4-9367-CBB4-C66084126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E207FA-14FF-C62E-4C50-9B685DAD2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FA05-5CE7-48AD-B4F2-4D59CCF9DE4E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C9A899-D48B-54FA-240E-BFA33CD5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A8470D-A127-FE9A-D3F1-C9CC3BF7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631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FB65A-7C13-43AB-E01E-B37D1D0F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4DAA50-B31B-3A04-1C55-43DF7F5A2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6BF00E-4CF6-8F6C-6D3D-1D933B383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6B12E6-A89D-B18C-E0D4-B2CE910D9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1A63C2-2A1F-0659-1A84-357B4949B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CD9A28-28E0-6D9C-072E-BC2555D2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B3B1-69A9-4E8E-87F2-4571A314E53E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3E7490-ADDB-65AC-6337-E0B6AC61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95A79F-555E-291D-D832-04BDE938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53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B2D32-02C1-D0BB-32C1-BF9D3CDCD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7439AF-B5A5-49A6-8731-9B416C91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C95E-2107-4115-959D-0918C7079ED6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02D6DBF-D306-A5D4-CB1E-4882305D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A36608-1154-CE74-1D31-6E31C88D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13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4CAA1C-DE67-827F-3835-74DB61F7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934E-37E1-4612-8756-ADCDFF3A9E4A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B159BB-A1E6-5FDB-FC15-241B06EC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8C2A55-2CB4-ABC5-803A-5F33907E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39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9437F-07EB-4C70-142E-05DEAC16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222694-F99B-3CB4-737C-0B586A1D4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1B3A7D-2B2F-FACD-BDDF-E259C7391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4AD5A-1FFA-9973-BF16-CCAAC1EC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6AA8-C00B-422D-A93C-219140D3CD15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162744-1BA7-5882-A5DC-51849C3B5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42D21A-04A7-213E-A8B2-3D0DCC0C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10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E85F9C-04ED-2B6C-FC6B-F6C7C1759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985B5E-C215-22D4-0F6B-246007BD8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723BE3-551E-736B-F35E-51EAD9AA0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BD48A0-91ED-1D43-1B17-81FBB3F1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3758-E77C-4201-9400-7F22B2515434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1CCCA6-5B3E-37F8-28E3-AFD40F61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09C51-E9FC-65F5-6400-000FD621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06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8DF5E-9FE1-0944-065B-97ED9067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A6B49F-4F98-BABC-3072-2BEA28081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87A08-79EC-34D4-0771-D265F403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C670-12F2-43A0-8E70-B5097AED69A4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A47A1-D49C-8884-71B6-5DC561D5C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373F6-A6FC-7DB1-3BA8-FB53C5CB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143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46F569-7B89-C55B-1FFE-57CDEAC31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255CBB-C2E4-182E-CFDF-D4E62CB7B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162B92-8D54-6E13-51CA-A0AB4BB0F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BD23F-8A0A-4D72-9E92-8F6C236FD861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8D41E-BCEA-8DD8-5ACE-D8E7B9578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9EA063-67BE-1174-E71A-24F13431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595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93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DEEA5C0-F74B-B764-A185-754B08FD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352810-D658-9FAD-3E1F-A31805634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66C3B1-E0C6-0B63-2886-BDA2C811A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D3158-7006-4038-81B8-C1EAAE1DA8B3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775D0-2AC1-2159-72F6-DFBFB420D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F4F5D9-76D8-EDA6-F9AD-9C1FEAD54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EF0D2-8FA9-4E13-8980-3AF82CF7A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62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>
            <a:extLst>
              <a:ext uri="{FF2B5EF4-FFF2-40B4-BE49-F238E27FC236}">
                <a16:creationId xmlns:a16="http://schemas.microsoft.com/office/drawing/2014/main" id="{FF3D0FBA-ECAF-7EA8-F243-6ABBC9996CD5}"/>
              </a:ext>
            </a:extLst>
          </p:cNvPr>
          <p:cNvSpPr txBox="1"/>
          <p:nvPr/>
        </p:nvSpPr>
        <p:spPr>
          <a:xfrm>
            <a:off x="1072044" y="3660056"/>
            <a:ext cx="7629503" cy="118123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/>
            <a:r>
              <a:rPr lang="ko-KR" altLang="en-US" sz="5400" b="0" i="0" u="none" strike="noStrike" dirty="0">
                <a:solidFill>
                  <a:srgbClr val="FDFDF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삼성전자</a:t>
            </a:r>
            <a:endParaRPr lang="en-US" sz="5400" b="0" i="0" u="none" strike="noStrike" dirty="0">
              <a:solidFill>
                <a:srgbClr val="FDFDFD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25CC76A5-BEC9-C0D4-D627-09D4D4C55ED8}"/>
              </a:ext>
            </a:extLst>
          </p:cNvPr>
          <p:cNvSpPr txBox="1"/>
          <p:nvPr/>
        </p:nvSpPr>
        <p:spPr>
          <a:xfrm>
            <a:off x="1072044" y="4597647"/>
            <a:ext cx="10618306" cy="118123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/>
            <a:r>
              <a:rPr lang="en-US" altLang="ko-KR" sz="5400" dirty="0">
                <a:solidFill>
                  <a:srgbClr val="FDFDF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 </a:t>
            </a:r>
            <a:r>
              <a:rPr lang="ko-KR" altLang="en-US" sz="5400" dirty="0">
                <a:solidFill>
                  <a:srgbClr val="FDFDF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프로젝트 교육 제안서</a:t>
            </a:r>
            <a:endParaRPr lang="en-US" sz="5400" b="0" i="0" u="none" strike="noStrike" dirty="0">
              <a:solidFill>
                <a:srgbClr val="FDFDF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963E55D4-E1B0-7D9E-8BE2-C59DB9B2C49A}"/>
              </a:ext>
            </a:extLst>
          </p:cNvPr>
          <p:cNvSpPr txBox="1"/>
          <p:nvPr/>
        </p:nvSpPr>
        <p:spPr>
          <a:xfrm>
            <a:off x="1072044" y="986930"/>
            <a:ext cx="2171700" cy="3305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/>
            <a:r>
              <a:rPr lang="en-US" altLang="ko-KR" sz="1400" dirty="0">
                <a:solidFill>
                  <a:srgbClr val="FDFDF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2026.09.03</a:t>
            </a:r>
            <a:endParaRPr lang="en-US" sz="1400" b="0" i="0" u="none" strike="noStrike" dirty="0">
              <a:solidFill>
                <a:srgbClr val="FDFDF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6734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3260C-B417-9603-4FCB-461BA75A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862C4D0-EA3C-7376-7B36-8A3BFEA96AA8}"/>
              </a:ext>
            </a:extLst>
          </p:cNvPr>
          <p:cNvSpPr/>
          <p:nvPr/>
        </p:nvSpPr>
        <p:spPr>
          <a:xfrm>
            <a:off x="304495" y="990295"/>
            <a:ext cx="11582705" cy="192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204545-4376-5682-F62D-ACADE2999EAC}"/>
              </a:ext>
            </a:extLst>
          </p:cNvPr>
          <p:cNvSpPr txBox="1"/>
          <p:nvPr/>
        </p:nvSpPr>
        <p:spPr>
          <a:xfrm>
            <a:off x="304495" y="267005"/>
            <a:ext cx="46725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200" b="1" dirty="0">
                <a:solidFill>
                  <a:srgbClr val="1E3A8A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세부 커리큘럼 제안</a:t>
            </a:r>
            <a:endParaRPr lang="en-US" alt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46D63C-CF7A-F19B-73DF-2AA4ED57A343}"/>
              </a:ext>
            </a:extLst>
          </p:cNvPr>
          <p:cNvSpPr txBox="1"/>
          <p:nvPr/>
        </p:nvSpPr>
        <p:spPr>
          <a:xfrm>
            <a:off x="304495" y="685800"/>
            <a:ext cx="5444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단순한 툴 교육을 넘어 실질적인 비즈니스 임팩트를 창출하는 체계적인 실습 교육 및 프로젝트 운영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EC5ED3C-E55B-DFD3-5AC5-602B1D626D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304495" y="1317282"/>
            <a:ext cx="190195" cy="171907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21E7F10B-9D5F-52A1-F56E-8E19BC71E896}"/>
              </a:ext>
            </a:extLst>
          </p:cNvPr>
          <p:cNvSpPr txBox="1"/>
          <p:nvPr/>
        </p:nvSpPr>
        <p:spPr>
          <a:xfrm>
            <a:off x="571500" y="1269734"/>
            <a:ext cx="11235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Part1: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LangChain&amp;LangGraph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AI Agent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챗봇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5B43A7F-3024-1E1A-BB35-3F413EAA1916}"/>
              </a:ext>
            </a:extLst>
          </p:cNvPr>
          <p:cNvGraphicFramePr>
            <a:graphicFrameLocks noGrp="1"/>
          </p:cNvGraphicFramePr>
          <p:nvPr/>
        </p:nvGraphicFramePr>
        <p:xfrm>
          <a:off x="403674" y="1664251"/>
          <a:ext cx="11402852" cy="254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86">
                  <a:extLst>
                    <a:ext uri="{9D8B030D-6E8A-4147-A177-3AD203B41FA5}">
                      <a16:colId xmlns:a16="http://schemas.microsoft.com/office/drawing/2014/main" val="1828302166"/>
                    </a:ext>
                  </a:extLst>
                </a:gridCol>
                <a:gridCol w="157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8759">
                  <a:extLst>
                    <a:ext uri="{9D8B030D-6E8A-4147-A177-3AD203B41FA5}">
                      <a16:colId xmlns:a16="http://schemas.microsoft.com/office/drawing/2014/main" val="878550602"/>
                    </a:ext>
                  </a:extLst>
                </a:gridCol>
              </a:tblGrid>
              <a:tr h="25464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27000" marR="27000" marT="34290" marB="3429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모듈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 내용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시간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미리보기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553C63B-FFF3-644D-D958-8881F5850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703541"/>
              </p:ext>
            </p:extLst>
          </p:nvPr>
        </p:nvGraphicFramePr>
        <p:xfrm>
          <a:off x="403494" y="1906405"/>
          <a:ext cx="11408258" cy="4860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568">
                  <a:extLst>
                    <a:ext uri="{9D8B030D-6E8A-4147-A177-3AD203B41FA5}">
                      <a16:colId xmlns:a16="http://schemas.microsoft.com/office/drawing/2014/main" val="2359480691"/>
                    </a:ext>
                  </a:extLst>
                </a:gridCol>
                <a:gridCol w="1579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7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5385">
                  <a:extLst>
                    <a:ext uri="{9D8B030D-6E8A-4147-A177-3AD203B41FA5}">
                      <a16:colId xmlns:a16="http://schemas.microsoft.com/office/drawing/2014/main" val="2721626904"/>
                    </a:ext>
                  </a:extLst>
                </a:gridCol>
              </a:tblGrid>
              <a:tr h="1794763">
                <a:tc row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 16H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Agent Design Thinking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AI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관점의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문제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재정의와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Agent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사고방식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정립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AI/ML/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LLM의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관계와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LLM의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본질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다음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토큰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예측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이해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Chatbot에서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Agent로의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함수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(Function Calling)과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행동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루프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ReAct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(Reasoning + Acting)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패턴의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작동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원리와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한계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LangChain과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필요한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이유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오케스트레이션과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관리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환경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VS Code,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CodeMate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venv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.env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키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관리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(3.0H)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0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LLM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작동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원리와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환경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준비</a:t>
                      </a:r>
                      <a:endParaRPr lang="en-US" altLang="ko-KR" sz="900" b="1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LLM API 실습을 위한 기반 정비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LLM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학습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추론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흐름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Tokenization, Context Window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핵심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개념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System/User/Assistant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분리와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대화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구조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파라미터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(Temperature, Top-p)와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출력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특성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이해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OpenAI SDK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single-turn / multi-turn / streaming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호출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LangChain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get_llm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()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래퍼를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일원화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(3.0H)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60078"/>
                  </a:ext>
                </a:extLst>
              </a:tr>
              <a:tr h="14453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000" marR="54000" marT="34290" marB="3429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LangChain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프레임워크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깊이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학습</a:t>
                      </a:r>
                      <a:endParaRPr lang="en-US" altLang="ko-KR" sz="900" b="1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LCEL, Tool </a:t>
                      </a: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Calling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Structured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Output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Memory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LCEL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설계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철학과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Pipe(|)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체인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Runnable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인터페이스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RunnableParallel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/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RunnablePassthrough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/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RunnableLambda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Tool Calling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메커니즘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스키마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수동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루프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처리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Output Parser vs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with_structured_output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()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비교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메모리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1: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RunnableWithMessageHistory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메모리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메모리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2: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+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MemorySaver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내장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메모리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날씨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계산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활용한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자율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체인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구조화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출력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MovieReview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파싱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및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비교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687419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29D98FAA-F83D-2AD7-607D-E43AD4DCAE65}"/>
              </a:ext>
            </a:extLst>
          </p:cNvPr>
          <p:cNvSpPr/>
          <p:nvPr/>
        </p:nvSpPr>
        <p:spPr>
          <a:xfrm>
            <a:off x="9447581" y="609905"/>
            <a:ext cx="2447849" cy="267005"/>
          </a:xfrm>
          <a:prstGeom prst="roundRect">
            <a:avLst>
              <a:gd name="adj" fmla="val 342465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C3C1584-3E56-A3DA-0987-0382FE654887}"/>
              </a:ext>
            </a:extLst>
          </p:cNvPr>
          <p:cNvSpPr txBox="1"/>
          <p:nvPr/>
        </p:nvSpPr>
        <p:spPr>
          <a:xfrm>
            <a:off x="9507142" y="657454"/>
            <a:ext cx="23224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 </a:t>
            </a:r>
            <a:r>
              <a:rPr lang="ko-KR" alt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프로젝트 교육 제안서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511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C3C3-0453-4553-D8C7-8241BDBDA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ED7455C-212B-8713-9A08-987EC92E211E}"/>
              </a:ext>
            </a:extLst>
          </p:cNvPr>
          <p:cNvSpPr/>
          <p:nvPr/>
        </p:nvSpPr>
        <p:spPr>
          <a:xfrm>
            <a:off x="304495" y="990295"/>
            <a:ext cx="11582705" cy="192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7F1A5F-B361-09A2-92ED-816A6CD84D48}"/>
              </a:ext>
            </a:extLst>
          </p:cNvPr>
          <p:cNvSpPr txBox="1"/>
          <p:nvPr/>
        </p:nvSpPr>
        <p:spPr>
          <a:xfrm>
            <a:off x="304495" y="267005"/>
            <a:ext cx="46725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200" b="1" dirty="0">
                <a:solidFill>
                  <a:srgbClr val="1E3A8A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세부 커리큘럼 제안</a:t>
            </a:r>
            <a:endParaRPr lang="en-US" alt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C58B7A-51F7-FE98-CA6D-64A96D862388}"/>
              </a:ext>
            </a:extLst>
          </p:cNvPr>
          <p:cNvSpPr txBox="1"/>
          <p:nvPr/>
        </p:nvSpPr>
        <p:spPr>
          <a:xfrm>
            <a:off x="304495" y="685800"/>
            <a:ext cx="5444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단순한 툴 교육을 넘어 실질적인 비즈니스 임팩트를 창출하는 체계적인 실습 교육 및 프로젝트 운영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0A6D54B-297E-499A-BAEE-F723F0B009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304495" y="1317282"/>
            <a:ext cx="190195" cy="171907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49E13A47-681D-925E-C4D3-37DF5221F749}"/>
              </a:ext>
            </a:extLst>
          </p:cNvPr>
          <p:cNvSpPr txBox="1"/>
          <p:nvPr/>
        </p:nvSpPr>
        <p:spPr>
          <a:xfrm>
            <a:off x="571500" y="1269734"/>
            <a:ext cx="11235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Part1: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LangChain&amp;LangGraph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AI Agent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챗봇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과정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1F2AADB-E80C-7B05-A805-47D8B93A45A7}"/>
              </a:ext>
            </a:extLst>
          </p:cNvPr>
          <p:cNvGraphicFramePr>
            <a:graphicFrameLocks noGrp="1"/>
          </p:cNvGraphicFramePr>
          <p:nvPr/>
        </p:nvGraphicFramePr>
        <p:xfrm>
          <a:off x="403674" y="1664251"/>
          <a:ext cx="11402852" cy="254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86">
                  <a:extLst>
                    <a:ext uri="{9D8B030D-6E8A-4147-A177-3AD203B41FA5}">
                      <a16:colId xmlns:a16="http://schemas.microsoft.com/office/drawing/2014/main" val="1828302166"/>
                    </a:ext>
                  </a:extLst>
                </a:gridCol>
                <a:gridCol w="157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8759">
                  <a:extLst>
                    <a:ext uri="{9D8B030D-6E8A-4147-A177-3AD203B41FA5}">
                      <a16:colId xmlns:a16="http://schemas.microsoft.com/office/drawing/2014/main" val="878550602"/>
                    </a:ext>
                  </a:extLst>
                </a:gridCol>
              </a:tblGrid>
              <a:tr h="25464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27000" marR="27000" marT="34290" marB="3429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모듈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 내용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시간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미리보기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444BF16-CC30-450B-2A03-E2255AB57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319737"/>
              </p:ext>
            </p:extLst>
          </p:nvPr>
        </p:nvGraphicFramePr>
        <p:xfrm>
          <a:off x="403494" y="1906405"/>
          <a:ext cx="11408258" cy="4860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568">
                  <a:extLst>
                    <a:ext uri="{9D8B030D-6E8A-4147-A177-3AD203B41FA5}">
                      <a16:colId xmlns:a16="http://schemas.microsoft.com/office/drawing/2014/main" val="2359480691"/>
                    </a:ext>
                  </a:extLst>
                </a:gridCol>
                <a:gridCol w="1579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7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5385">
                  <a:extLst>
                    <a:ext uri="{9D8B030D-6E8A-4147-A177-3AD203B41FA5}">
                      <a16:colId xmlns:a16="http://schemas.microsoft.com/office/drawing/2014/main" val="2721626904"/>
                    </a:ext>
                  </a:extLst>
                </a:gridCol>
              </a:tblGrid>
              <a:tr h="1794763">
                <a:tc row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 16H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RAG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이론과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핵심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모듈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endParaRPr lang="en-US" altLang="ko-KR" sz="900" b="1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문서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QA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파이프라인의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표준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RAG vs Fine-tuning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분리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Naive → Advanced → Modular RAG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발전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흐름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RAG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핵심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모듈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Loading / Splitting / Embedding / Storage / Retrieval / Generation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청킹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(Fixed/Recursive/Semantic)과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임베딩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관점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PDF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로딩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청킹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벡터스토어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(Chroma)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구축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LangChain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RAG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체인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및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스트리밍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응답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RAGaaS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API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사내형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RAG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패턴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이해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(3.0H)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0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정통 이론 &amp; 고급 기능 실습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StateGraph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기반 제어 가능한 </a:t>
                      </a: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설계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핵심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구성요소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Node / Edge / State / Reducer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Conditional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Edge로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분기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제어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언어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감지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라우팅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ToolNode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+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tools_condition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ReAct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루프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자동화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Checkpointer를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활용한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중단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재개와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영속화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Human-in-the-loop(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interrupt_before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승인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거부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패턴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조건부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라우팅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+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+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가능한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그래프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대화형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HITL CLI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에이전트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(3.0H)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60078"/>
                  </a:ext>
                </a:extLst>
              </a:tr>
              <a:tr h="14453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000" marR="54000" marT="34290" marB="3429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Multi-Agent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협업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입문</a:t>
                      </a:r>
                      <a:endParaRPr lang="ko-KR" altLang="en-US" sz="900" b="1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단일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Agent에서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분리형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협업으로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확장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Agent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한계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혼재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컨텍스트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비대화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복잡도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증가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패턴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이해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Researcher-Writer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분업과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Supervisor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라우팅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Structured Output(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RouteDecision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으로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라우팅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결정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안정화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Researcher(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조사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+ Writer(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2-Agent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Supervisor가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상태를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보고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researcher/writer/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finish를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선택하는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흐름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Streamlit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기반 RAG 서비스화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Streamlit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소개</a:t>
                      </a:r>
                      <a:b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Langchain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을 활용한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약관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QA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챗봇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UI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및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스트리밍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응답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연결</a:t>
                      </a:r>
                      <a:endParaRPr lang="ko-KR" altLang="en-US" sz="900" b="1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687419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1681AF91-8F72-5C9F-AF15-CC1FE15395C1}"/>
              </a:ext>
            </a:extLst>
          </p:cNvPr>
          <p:cNvSpPr/>
          <p:nvPr/>
        </p:nvSpPr>
        <p:spPr>
          <a:xfrm>
            <a:off x="9447581" y="609905"/>
            <a:ext cx="2447849" cy="267005"/>
          </a:xfrm>
          <a:prstGeom prst="roundRect">
            <a:avLst>
              <a:gd name="adj" fmla="val 342465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32A34EA-0C93-821F-00E8-F8CCE552D434}"/>
              </a:ext>
            </a:extLst>
          </p:cNvPr>
          <p:cNvSpPr txBox="1"/>
          <p:nvPr/>
        </p:nvSpPr>
        <p:spPr>
          <a:xfrm>
            <a:off x="9507142" y="657454"/>
            <a:ext cx="23224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 </a:t>
            </a:r>
            <a:r>
              <a:rPr lang="ko-KR" alt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프로젝트 교육 제안서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173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1564-44E8-45E7-6320-743C30BF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103744D0-79EC-D80D-C644-12B08FF3138A}"/>
              </a:ext>
            </a:extLst>
          </p:cNvPr>
          <p:cNvSpPr/>
          <p:nvPr/>
        </p:nvSpPr>
        <p:spPr>
          <a:xfrm>
            <a:off x="304495" y="990295"/>
            <a:ext cx="11582705" cy="192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48163F-FCDF-C2DE-85D4-6E7D0839ACF2}"/>
              </a:ext>
            </a:extLst>
          </p:cNvPr>
          <p:cNvSpPr txBox="1"/>
          <p:nvPr/>
        </p:nvSpPr>
        <p:spPr>
          <a:xfrm>
            <a:off x="304495" y="267005"/>
            <a:ext cx="46725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200" b="1" dirty="0">
                <a:solidFill>
                  <a:srgbClr val="1E3A8A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세부 커리큘럼 제안</a:t>
            </a:r>
            <a:endParaRPr lang="en-US" alt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6F2230-EF89-A44B-8ABC-F9B40CFD2DCA}"/>
              </a:ext>
            </a:extLst>
          </p:cNvPr>
          <p:cNvSpPr txBox="1"/>
          <p:nvPr/>
        </p:nvSpPr>
        <p:spPr>
          <a:xfrm>
            <a:off x="304495" y="685800"/>
            <a:ext cx="5444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단순한 툴 교육을 넘어 실질적인 비즈니스 임팩트를 창출하는 체계적인 실습 교육 및 프로젝트 운영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5E32DEA3-7F64-C117-8FA6-A44862F22C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304495" y="1317282"/>
            <a:ext cx="190195" cy="171907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5F8A8385-B8C7-0D0A-42D9-899D85F27DF3}"/>
              </a:ext>
            </a:extLst>
          </p:cNvPr>
          <p:cNvSpPr txBox="1"/>
          <p:nvPr/>
        </p:nvSpPr>
        <p:spPr>
          <a:xfrm>
            <a:off x="571500" y="1269734"/>
            <a:ext cx="11235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Part2: MCP·A2A·Harness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Multi-Agent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실전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</a:t>
            </a:r>
            <a:endParaRPr lang="en-US" altLang="ko-KR" sz="1300" b="1" dirty="0">
              <a:solidFill>
                <a:srgbClr val="1E40A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6DCE874-560C-D02D-A860-32A2AA951497}"/>
              </a:ext>
            </a:extLst>
          </p:cNvPr>
          <p:cNvGraphicFramePr>
            <a:graphicFrameLocks noGrp="1"/>
          </p:cNvGraphicFramePr>
          <p:nvPr/>
        </p:nvGraphicFramePr>
        <p:xfrm>
          <a:off x="403674" y="1664251"/>
          <a:ext cx="11402852" cy="254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86">
                  <a:extLst>
                    <a:ext uri="{9D8B030D-6E8A-4147-A177-3AD203B41FA5}">
                      <a16:colId xmlns:a16="http://schemas.microsoft.com/office/drawing/2014/main" val="1828302166"/>
                    </a:ext>
                  </a:extLst>
                </a:gridCol>
                <a:gridCol w="157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8759">
                  <a:extLst>
                    <a:ext uri="{9D8B030D-6E8A-4147-A177-3AD203B41FA5}">
                      <a16:colId xmlns:a16="http://schemas.microsoft.com/office/drawing/2014/main" val="878550602"/>
                    </a:ext>
                  </a:extLst>
                </a:gridCol>
              </a:tblGrid>
              <a:tr h="25464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27000" marR="27000" marT="34290" marB="3429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모듈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 내용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시간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미리보기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EB3CDF-D0C3-0F87-1BE2-DB3EAB774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827873"/>
              </p:ext>
            </p:extLst>
          </p:nvPr>
        </p:nvGraphicFramePr>
        <p:xfrm>
          <a:off x="403494" y="1906406"/>
          <a:ext cx="11408258" cy="4860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568">
                  <a:extLst>
                    <a:ext uri="{9D8B030D-6E8A-4147-A177-3AD203B41FA5}">
                      <a16:colId xmlns:a16="http://schemas.microsoft.com/office/drawing/2014/main" val="2359480691"/>
                    </a:ext>
                  </a:extLst>
                </a:gridCol>
                <a:gridCol w="1579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7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5385">
                  <a:extLst>
                    <a:ext uri="{9D8B030D-6E8A-4147-A177-3AD203B41FA5}">
                      <a16:colId xmlns:a16="http://schemas.microsoft.com/office/drawing/2014/main" val="2721626904"/>
                    </a:ext>
                  </a:extLst>
                </a:gridCol>
              </a:tblGrid>
              <a:tr h="1007285"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 16H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과정1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복습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&amp;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심화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방향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정렬</a:t>
                      </a:r>
                      <a:endParaRPr lang="en-US" altLang="ko-KR" sz="900" b="1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과정 1 핵심 개념 </a:t>
                      </a: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리프레시와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확장 축 소개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LLM/Agent/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LangChain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/RAG/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핵심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복습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과정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2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목표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MCP, A2A,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심화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Harness, Observability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환경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VS Code,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CodeMate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venv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.env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키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관리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코드로 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server, client  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기초 이해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review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코드로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기초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구성요소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재확인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2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MCP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Model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Context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Protocol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표준 연동 실습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MCP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등장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배경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함수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난립과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표준화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필요성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구성요소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Server / Host / Client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프리미티브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Tools / Resources / Prompts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FastMCP로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및 SSE/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stdio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전송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방식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이해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/BMI/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할일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MCP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Agent에서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MCP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후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호출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(1.5H)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60078"/>
                  </a:ext>
                </a:extLst>
              </a:tr>
              <a:tr h="14227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000" marR="54000" marT="34290" marB="3429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A2A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프로토콜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이해와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위임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구조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endParaRPr lang="en-US" altLang="ko-KR" sz="900" b="1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Agent-to-Agent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통신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표준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적용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MCP와 A2A의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Agent↔Tool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vs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Agent↔Agent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핵심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개념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Agent Card / Task / Message / Artifact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Task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추적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비동기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이해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Agent를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A2A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Server로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노출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A2A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Client로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task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생성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조회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Researcher(A2A) + Writer(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LLM)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분업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흐름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(1.5H)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687419"/>
                  </a:ext>
                </a:extLst>
              </a:tr>
              <a:tr h="1145787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altLang="ko-KR" sz="10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심화</a:t>
                      </a:r>
                      <a:endParaRPr lang="en-US" altLang="ko-KR" sz="900" b="1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복잡한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워크플로우를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위한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고급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패턴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Subgraph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컴포지션으로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모듈화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Persistence: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MemorySaver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vs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SqliteSaver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checkpoint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이력과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time-travel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Checkpointer와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Store의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역할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단기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대화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vs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장기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사용자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Parallel Execution: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정적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fan-out/fan-in,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동적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Send API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병렬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질의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처리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및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결과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집계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그래프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구현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(3.0H)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153921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771A7046-5E47-7CDE-591E-DDABB02DF58F}"/>
              </a:ext>
            </a:extLst>
          </p:cNvPr>
          <p:cNvSpPr/>
          <p:nvPr/>
        </p:nvSpPr>
        <p:spPr>
          <a:xfrm>
            <a:off x="9447581" y="609905"/>
            <a:ext cx="2447849" cy="267005"/>
          </a:xfrm>
          <a:prstGeom prst="roundRect">
            <a:avLst>
              <a:gd name="adj" fmla="val 342465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D708243-EBA5-D841-7C1D-4F78C358F6DB}"/>
              </a:ext>
            </a:extLst>
          </p:cNvPr>
          <p:cNvSpPr txBox="1"/>
          <p:nvPr/>
        </p:nvSpPr>
        <p:spPr>
          <a:xfrm>
            <a:off x="9507142" y="657454"/>
            <a:ext cx="23224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 </a:t>
            </a:r>
            <a:r>
              <a:rPr lang="ko-KR" alt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프로젝트 교육 제안서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761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EA295-169E-35C6-AA38-049B6381E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10C62F73-FE8D-F1FC-6A76-66FEAEDD384D}"/>
              </a:ext>
            </a:extLst>
          </p:cNvPr>
          <p:cNvSpPr/>
          <p:nvPr/>
        </p:nvSpPr>
        <p:spPr>
          <a:xfrm>
            <a:off x="304495" y="990295"/>
            <a:ext cx="11582705" cy="19202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5CD74A-1B26-BD19-2D6D-B779F53505E2}"/>
              </a:ext>
            </a:extLst>
          </p:cNvPr>
          <p:cNvSpPr txBox="1"/>
          <p:nvPr/>
        </p:nvSpPr>
        <p:spPr>
          <a:xfrm>
            <a:off x="304495" y="267005"/>
            <a:ext cx="46725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200" b="1" dirty="0">
                <a:solidFill>
                  <a:srgbClr val="1E3A8A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세부 커리큘럼 제안</a:t>
            </a:r>
            <a:endParaRPr lang="en-US" altLang="ko-KR" sz="22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CA522F4-DA4F-7648-A60A-5FE5C4697F6E}"/>
              </a:ext>
            </a:extLst>
          </p:cNvPr>
          <p:cNvSpPr txBox="1"/>
          <p:nvPr/>
        </p:nvSpPr>
        <p:spPr>
          <a:xfrm>
            <a:off x="304495" y="685800"/>
            <a:ext cx="5444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4B556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단순한 툴 교육을 넘어 실질적인 비즈니스 임팩트를 창출하는 체계적인 실습 교육 및 프로젝트 운영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2D2144C-39A0-A8E6-A49D-CA5698C54A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304495" y="1317282"/>
            <a:ext cx="190195" cy="171907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EA39F89E-BFBB-A34D-5172-51711F0818B0}"/>
              </a:ext>
            </a:extLst>
          </p:cNvPr>
          <p:cNvSpPr txBox="1"/>
          <p:nvPr/>
        </p:nvSpPr>
        <p:spPr>
          <a:xfrm>
            <a:off x="571500" y="1269734"/>
            <a:ext cx="11235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Part2: MCP·A2A·Harness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Multi-Agent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실전</a:t>
            </a:r>
            <a:r>
              <a:rPr lang="en-US" altLang="ko-KR" sz="1300" b="1" dirty="0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300" b="1" dirty="0" err="1">
                <a:solidFill>
                  <a:srgbClr val="1E40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</a:t>
            </a:r>
            <a:endParaRPr lang="en-US" altLang="ko-KR" sz="1300" b="1" dirty="0">
              <a:solidFill>
                <a:srgbClr val="1E40A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B7CAF66-E2C4-5E7B-DFD8-781A488A90E2}"/>
              </a:ext>
            </a:extLst>
          </p:cNvPr>
          <p:cNvGraphicFramePr>
            <a:graphicFrameLocks noGrp="1"/>
          </p:cNvGraphicFramePr>
          <p:nvPr/>
        </p:nvGraphicFramePr>
        <p:xfrm>
          <a:off x="403674" y="1664251"/>
          <a:ext cx="11402852" cy="254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86">
                  <a:extLst>
                    <a:ext uri="{9D8B030D-6E8A-4147-A177-3AD203B41FA5}">
                      <a16:colId xmlns:a16="http://schemas.microsoft.com/office/drawing/2014/main" val="1828302166"/>
                    </a:ext>
                  </a:extLst>
                </a:gridCol>
                <a:gridCol w="157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1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8759">
                  <a:extLst>
                    <a:ext uri="{9D8B030D-6E8A-4147-A177-3AD203B41FA5}">
                      <a16:colId xmlns:a16="http://schemas.microsoft.com/office/drawing/2014/main" val="878550602"/>
                    </a:ext>
                  </a:extLst>
                </a:gridCol>
              </a:tblGrid>
              <a:tr h="25464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구분</a:t>
                      </a:r>
                    </a:p>
                  </a:txBody>
                  <a:tcPr marL="27000" marR="27000" marT="34290" marB="34290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모듈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세부 내용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시간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ko-KR" altLang="en-US" sz="900" b="0" kern="1200" dirty="0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미리보기</a:t>
                      </a:r>
                    </a:p>
                  </a:txBody>
                  <a:tcPr marL="27000" marR="2700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CD1FE77-2818-F960-3BA4-FD7C035BD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361702"/>
              </p:ext>
            </p:extLst>
          </p:nvPr>
        </p:nvGraphicFramePr>
        <p:xfrm>
          <a:off x="403494" y="1906405"/>
          <a:ext cx="11408258" cy="4860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568">
                  <a:extLst>
                    <a:ext uri="{9D8B030D-6E8A-4147-A177-3AD203B41FA5}">
                      <a16:colId xmlns:a16="http://schemas.microsoft.com/office/drawing/2014/main" val="2359480691"/>
                    </a:ext>
                  </a:extLst>
                </a:gridCol>
                <a:gridCol w="1579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7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5385">
                  <a:extLst>
                    <a:ext uri="{9D8B030D-6E8A-4147-A177-3AD203B41FA5}">
                      <a16:colId xmlns:a16="http://schemas.microsoft.com/office/drawing/2014/main" val="2721626904"/>
                    </a:ext>
                  </a:extLst>
                </a:gridCol>
              </a:tblGrid>
              <a:tr h="1794763">
                <a:tc row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10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총 16H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Harness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Engineering 핵심 원칙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모델이 아니라 실행 환경을 설계하는 관점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Harness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Engineering의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배경과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필요성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Workflow vs Agent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선택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기준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skills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문서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행위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제어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원리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deepagents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+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FilesystemBackend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+ skills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디렉토리로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에이전트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구성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범위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이탈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요청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거절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(system prompt)과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스킬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응답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제어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0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Observability &amp; Evaluation (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Langfuse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운영 품질 측정을 위한 </a:t>
                      </a:r>
                      <a:r>
                        <a:rPr lang="ko-KR" altLang="en-US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추적·평가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체계 구축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CallbackHandler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LangChain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LangGraph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트레이싱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@observe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비체인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로직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추적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평가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방법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규칙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기반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사용자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피드백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LLM-as-a-Judge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다차원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점수화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정확성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관련성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완성도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등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기록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[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실습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]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Langfuse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대시보드에서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trace와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score </a:t>
                      </a:r>
                      <a:r>
                        <a:rPr lang="en-US" altLang="ko-KR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검증</a:t>
                      </a: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에이전트 활용 소개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Moody’s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와 </a:t>
                      </a: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Salesforce 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사 예시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endParaRPr lang="en-US" altLang="ko-KR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(2.0H)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660078"/>
                  </a:ext>
                </a:extLst>
              </a:tr>
              <a:tr h="14453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000" marR="54000" marT="34290" marB="3429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캡스톤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프로젝트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리서치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자동화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멀티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에이전트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900" b="1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시스템</a:t>
                      </a:r>
                      <a:endParaRPr lang="en-US" altLang="ko-KR" sz="900" b="1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4CB28E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4일 학습요소 통합 구현 </a:t>
                      </a:r>
                      <a: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자유 주제 혹은 스켈레톤 코드 기반 개발 </a:t>
                      </a:r>
                      <a:r>
                        <a:rPr lang="ko-KR" altLang="en-US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중 선택</a:t>
                      </a:r>
                      <a:r>
                        <a:rPr lang="en-US" altLang="ko-KR" sz="900" b="1" kern="1200" spc="-2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br>
                        <a:rPr lang="en-US" altLang="ko-KR" sz="900" b="1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스켈레톤 코드 통합 아키텍처: 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Supervisor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→ 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Researcher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MCP+RAG+웹검색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→ HITL 승인 → 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Writer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Researcher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Writer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역할별 SKILL.md 적용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MCP 파일시스템 서버 연동 + 로컬 문서 검색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Human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Approval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interrupt_before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 기반 승인형 작성 플로우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최종 보고서 자동 평가(LLM 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Judge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)와 </a:t>
                      </a:r>
                      <a:r>
                        <a:rPr lang="ko-KR" altLang="en-US" sz="900" b="0" kern="1200" spc="-2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Langfuse</a:t>
                      </a:r>
                      <a:r>
                        <a:rPr lang="ko-KR" altLang="en-US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점수 기록</a:t>
                      </a:r>
                    </a:p>
                  </a:txBody>
                  <a:tcPr marL="72000" marR="72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4일차</a:t>
                      </a:r>
                      <a:b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altLang="ko-KR" sz="900" b="0" kern="1200" spc="-2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(4.0H)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900" b="0" kern="1200" spc="-2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27000" marR="27000" marT="13500" marB="135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687419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38380E8A-D2F4-1BEA-10CB-3986E065BB22}"/>
              </a:ext>
            </a:extLst>
          </p:cNvPr>
          <p:cNvSpPr/>
          <p:nvPr/>
        </p:nvSpPr>
        <p:spPr>
          <a:xfrm>
            <a:off x="9447581" y="609905"/>
            <a:ext cx="2447849" cy="267005"/>
          </a:xfrm>
          <a:prstGeom prst="roundRect">
            <a:avLst>
              <a:gd name="adj" fmla="val 342465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7222B55-B343-A36D-C745-984BFD3E2332}"/>
              </a:ext>
            </a:extLst>
          </p:cNvPr>
          <p:cNvSpPr txBox="1"/>
          <p:nvPr/>
        </p:nvSpPr>
        <p:spPr>
          <a:xfrm>
            <a:off x="9507142" y="657454"/>
            <a:ext cx="23224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Agent </a:t>
            </a:r>
            <a:r>
              <a:rPr lang="ko-KR" alt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 프로젝트 교육 제안서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2090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3671</TotalTime>
  <Words>1399</Words>
  <Application>Microsoft Office PowerPoint</Application>
  <PresentationFormat>와이드스크린</PresentationFormat>
  <Paragraphs>88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Pretendard Black</vt:lpstr>
      <vt:lpstr>Arial</vt:lpstr>
      <vt:lpstr>Pretendard Medium</vt:lpstr>
      <vt:lpstr>Pretendard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Jiwon</dc:creator>
  <cp:lastModifiedBy>염민기</cp:lastModifiedBy>
  <cp:revision>75</cp:revision>
  <dcterms:created xsi:type="dcterms:W3CDTF">2024-11-24T22:23:42Z</dcterms:created>
  <dcterms:modified xsi:type="dcterms:W3CDTF">2026-09-03T07:00:03Z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